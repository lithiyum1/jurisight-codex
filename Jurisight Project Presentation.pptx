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Poppins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0DF1B7-C9AD-4DCE-B96D-C2DF095E50E7}">
  <a:tblStyle styleId="{370DF1B7-C9AD-4DCE-B96D-C2DF095E50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c9bdf1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2c9bdf13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2c9bdf13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2c9bdf13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2c9bdf13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a2c9bdf13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2c9bdf13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a2c9bdf13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2400" y="1390318"/>
            <a:ext cx="116016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JURISIGHT: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INTERPRETABLE LEGAL DOCUMENT CLASSIFICATION AND VERDICT PREDICTION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02400" y="3351266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TRANSFORMER-BASED NLP MODELS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48571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PRESENTED BY: LITHILA GINIGE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58146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SUPERVISOR: MR. SHAVIN FERNANDO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867721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UNIVERSITY OF WESTMINSTER – SCHOOL OF COMPUTER SCIENCE AND ENGINEERING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277296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DATE: NOVEMBER 12,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0300" y="1666600"/>
            <a:ext cx="95016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the Problem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Aims, Objectives, and Scope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Review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with Existing Systems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 &amp; Diagrams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Elicitation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Schedule (Gantt Chart)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195388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PROBLEM DESCRIPTION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605925"/>
            <a:ext cx="52863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Legal professionals and law students often struggle to analyse lengthy legal documents and predict verdict outcomes due to the complexity of legal language, lack of automated tools, and non-transparent AI systems. Existing verdict prediction models provide outputs without clear reasoning, limiting user trust and legal applicability.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334125" y="187693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SIGNIFICANCE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34125" y="2617855"/>
            <a:ext cx="5286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project aims to bridge the gap between legal reasoning and AI prediction by introducing explainability and interpretability into the verdict prediction process, supporting legal education, research, and AI-assisted </a:t>
            </a:r>
            <a:endParaRPr i="0" sz="2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decision-making.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DEFINITION OF THE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Understanding the Legal AI Problem Space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02675" y="1697350"/>
            <a:ext cx="90864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Growing volume of legal case data makes manual review inefficient.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professionals face complexity and information overload.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AI tools lack transparency and interpretability.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domain demands systems that are both accurate and explainable.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AIM OF THE PROJECT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02675" y="1697350"/>
            <a:ext cx="9086400" cy="3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primary goal of this project is to develop an interpretable AI system — </a:t>
            </a:r>
            <a:r>
              <a:rPr b="1" lang="en-US" sz="2400">
                <a:solidFill>
                  <a:srgbClr val="004A99"/>
                </a:solidFill>
                <a:latin typeface="Calibri"/>
                <a:ea typeface="Calibri"/>
                <a:cs typeface="Calibri"/>
                <a:sym typeface="Calibri"/>
              </a:rPr>
              <a:t>Jurisight</a:t>
            </a:r>
            <a:r>
              <a:rPr b="1" lang="en-US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that predicts verdicts from legal documents while explaining the rationale behind predictions using Explainable AI (XAI) techniques.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79550" y="1697350"/>
            <a:ext cx="8655900" cy="3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transformer-based legal NLP models.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framework for interpretable verdict prediction.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document preprocessing and segmentation.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XAI tools for model transparency.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Streamlit interface for visualization.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interpretability and accuracy using ECHR/ILDC datasets.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63" y="1832689"/>
            <a:ext cx="52863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9500" y="1837442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849388" y="217259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INCLUSIONS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6707263" y="213411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EXCLUSIONS</a:t>
            </a:r>
            <a:endParaRPr/>
          </a:p>
        </p:txBody>
      </p:sp>
      <p:pic>
        <p:nvPicPr>
          <p:cNvPr descr="image.png" id="138" name="Google Shape;1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775" y="220079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1095375" y="3882330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40" name="Google Shape;14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1300" y="21623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PROJECT SCOPE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864050" y="2712075"/>
            <a:ext cx="47307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document classification and verdict prediction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Explainable AI visualizations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interface for legal users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6707275" y="2712075"/>
            <a:ext cx="47307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legal advice or automation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Multilingual or cross-jurisdictional predictions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legal database integration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Research Questions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602675" y="1697350"/>
            <a:ext cx="9086400" cy="3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effectively can transformer-based models classify and predict verdicts from legal text?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XAI methods (SHAP, LIME, Attention) improve interpretability and user trust?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model reasoning be aligned with human legal interpretation?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trade-offs between accuracy and transparency in legal NLP systems?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688250"/>
            <a:ext cx="3093526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571500" y="1943624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KEY FINDINGS FROM LITERATURE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6334125" y="1943636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RESEARCH GAP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6334125" y="280838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Lack of interpretable verdict prediction systems that align AI reasoning with human legal logic.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1333500" y="2751236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Transformer models like BERT, Legal-BERT, and CaseLaw-BERT outperform traditional ML.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1333500" y="3612058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Most research focuses on accuracy, not interpretability.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1333500" y="4472880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Long-document context loss is a major limitation.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1333500" y="5333702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Explainable AI (SHAP, attention) can enhance human trust and understanding.</a:t>
            </a:r>
            <a:endParaRPr/>
          </a:p>
        </p:txBody>
      </p:sp>
      <p:pic>
        <p:nvPicPr>
          <p:cNvPr descr="image.png" id="164" name="Google Shape;1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2800" y="3688258"/>
            <a:ext cx="52673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82743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68825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54908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40990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BACKGROUND REVIEW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2"/>
          <p:cNvGraphicFramePr/>
          <p:nvPr/>
        </p:nvGraphicFramePr>
        <p:xfrm>
          <a:off x="571500" y="17158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{370DF1B7-C9AD-4DCE-B96D-C2DF095E50E7}</a:tableStyleId>
              </a:tblPr>
              <a:tblGrid>
                <a:gridCol w="3460375"/>
                <a:gridCol w="3253800"/>
                <a:gridCol w="4519275"/>
              </a:tblGrid>
              <a:tr h="48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Existing System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Strengths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Weaknesses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Legal-BERT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Domain-specific understanding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Lacks transparency in predictions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CaseLaw-BERT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Good contextual learning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No interpretability layer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Judgment Prediction (CAIL2018)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Large dataset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Focused on Chinese law, limited explainability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2"/>
          <p:cNvSpPr txBox="1"/>
          <p:nvPr/>
        </p:nvSpPr>
        <p:spPr>
          <a:xfrm>
            <a:off x="571500" y="436810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DIFFERENTIATION (GAP ANALYSIS)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571500" y="4958650"/>
            <a:ext cx="8748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Jurisight combines verdict prediction + explainable reasoning + user interface.</a:t>
            </a:r>
            <a:br>
              <a:rPr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bridges AI and legal logic using transparent visualization.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3229867"/>
            <a:ext cx="34035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3975050" y="3229867"/>
            <a:ext cx="3200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7175450" y="3229867"/>
            <a:ext cx="444504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71500" y="3648967"/>
            <a:ext cx="34035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975050" y="3648967"/>
            <a:ext cx="3200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175450" y="3648967"/>
            <a:ext cx="444504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EXISTING SYSTEMS (COMPARISON)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6320550" y="198776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571500" y="1987757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6320538" y="2544410"/>
            <a:ext cx="4524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Standard laptop/PC with GPU </a:t>
            </a:r>
            <a:endParaRPr b="1" sz="165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Google Colab</a:t>
            </a:r>
            <a:endParaRPr b="1" sz="165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571500" y="25443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{370DF1B7-C9AD-4DCE-B96D-C2DF095E50E7}</a:tableStyleId>
              </a:tblPr>
              <a:tblGrid>
                <a:gridCol w="2130025"/>
                <a:gridCol w="3156350"/>
              </a:tblGrid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Tool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Purpose / Justification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Python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Development (Robust NLP libraries)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HuggingFace Transformers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Model fine-tuning (Pre-trained legal models)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PyTorch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Deep learning framework (Model training)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Streamlit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Web app interface (Easy model deployment)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SHAP / LIME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Explainable AI (Transparency and trust)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A1A1A"/>
                          </a:solidFill>
                        </a:rPr>
                        <a:t>Excel / ClickUp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1A1A1A"/>
                          </a:solidFill>
                        </a:rPr>
                        <a:t>Project timeline tracking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3"/>
          <p:cNvSpPr/>
          <p:nvPr/>
        </p:nvSpPr>
        <p:spPr>
          <a:xfrm>
            <a:off x="571500" y="6925270"/>
            <a:ext cx="2130028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2701528" y="6925270"/>
            <a:ext cx="3156346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571500" y="7344370"/>
            <a:ext cx="2130028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2701528" y="7344370"/>
            <a:ext cx="3156346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571500" y="9002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TOOLS &amp; TECHNOLOGIES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 CASES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679550" y="1697350"/>
            <a:ext cx="8655900" cy="15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Legal Document → Predict Verdict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Explanation → Visualize Key Sections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→ Manage dataset/model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679550" y="4111925"/>
            <a:ext cx="8655900" cy="17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Law Student / Legal Professional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Administrator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616950" y="3429000"/>
            <a:ext cx="109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ACTORS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 CASE DIAGRAM</a:t>
            </a:r>
            <a:endParaRPr/>
          </a:p>
        </p:txBody>
      </p:sp>
      <p:pic>
        <p:nvPicPr>
          <p:cNvPr id="214" name="Google Shape;214;p25" title="Use case 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75" y="1614500"/>
            <a:ext cx="9610049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/>
          <p:nvPr/>
        </p:nvSpPr>
        <p:spPr>
          <a:xfrm>
            <a:off x="571500" y="887600"/>
            <a:ext cx="108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b="1" lang="en-US" sz="3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TEXT DIAGRAM</a:t>
            </a:r>
            <a:endParaRPr/>
          </a:p>
        </p:txBody>
      </p:sp>
      <p:pic>
        <p:nvPicPr>
          <p:cNvPr id="221" name="Google Shape;221;p26" title="Context 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00" y="1785775"/>
            <a:ext cx="11912198" cy="32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220080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75" y="22008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REQUIREMENTS ELICITATION</a:t>
            </a:r>
            <a:endParaRPr/>
          </a:p>
        </p:txBody>
      </p:sp>
      <p:pic>
        <p:nvPicPr>
          <p:cNvPr descr="image.png" id="230" name="Google Shape;23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88" y="1746964"/>
            <a:ext cx="52863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8013" y="1746964"/>
            <a:ext cx="528637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/>
        </p:nvSpPr>
        <p:spPr>
          <a:xfrm>
            <a:off x="849388" y="217259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APPROACH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6835863" y="217259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TECHNIQUES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723900" y="2568000"/>
            <a:ext cx="47307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Interviews with legal professionals &amp; law students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analysis of existing systems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6724675" y="2568000"/>
            <a:ext cx="47307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analysis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Brainstorming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 prioritization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FUNCTIONAL REQUIREMENTS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615725" y="1656675"/>
            <a:ext cx="88275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FR01 - The system must allow users to upload legal case documents for analysis.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FR02 - The system must classify legal documents and predict verdicts using Transformer-based models.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FR03 - The system must generate explanations for model predictions using SHAP, LIME, and Captum.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FR04 - The system should provide a web interface to display verdicts and explanations interactively.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FR05 - The administrator should be able to retrain or update the model with new datasets.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FR06 - The system could allow users to export verdict reports in PDF format.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FR07 - The system could store user interaction logs for future research.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NON-FUNCTIONAL REQUIREMENTS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615725" y="1656675"/>
            <a:ext cx="88275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NFR01 - Accuracy - The system must achieve ≥80% accuracy on ECHR test data.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NFR02 - Explainability Quality - Explanations must be faithful (aligned with influential tokens) and understandable to users.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NFR03 - Performance - Average inference time per document must be &lt;5 seconds on GPU.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NFR04 - Fairness - The model should minimize bias across case types and entities.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NFR05 - Security - Uploaded documents must be encrypted and not stored permanently.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NFR06 - Usability - The interface should be intuitive for non-technical users.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Expected Outcomes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602675" y="1697350"/>
            <a:ext cx="9086400" cy="30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 ≥80% F1-score for verdict prediction.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faithful and human-aligned explanations.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 an intuitive and usable interface for law students.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trust in AI-assisted legal analysis and education.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590550" y="6167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GANTT CHART OVERVIEW</a:t>
            </a:r>
            <a:endParaRPr/>
          </a:p>
        </p:txBody>
      </p:sp>
      <p:pic>
        <p:nvPicPr>
          <p:cNvPr id="263" name="Google Shape;263;p31" title="Screenshot 2025-11-11 2056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325" y="1372500"/>
            <a:ext cx="9597670" cy="52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 txBox="1"/>
          <p:nvPr/>
        </p:nvSpPr>
        <p:spPr>
          <a:xfrm>
            <a:off x="571500" y="88761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FUTURE IMPLEMENTATION PLAN</a:t>
            </a:r>
            <a:endParaRPr/>
          </a:p>
        </p:txBody>
      </p:sp>
      <p:sp>
        <p:nvSpPr>
          <p:cNvPr id="270" name="Google Shape;270;p32"/>
          <p:cNvSpPr txBox="1"/>
          <p:nvPr/>
        </p:nvSpPr>
        <p:spPr>
          <a:xfrm>
            <a:off x="571500" y="1773375"/>
            <a:ext cx="8728500" cy="29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 Legal-BERT/RoBERTa models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SHAP/Captum explanations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Conduct human-aligned evaluation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Jurisight web interface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Ethical and Legal Considerations</a:t>
            </a:r>
            <a:endParaRPr/>
          </a:p>
        </p:txBody>
      </p:sp>
      <p:sp>
        <p:nvSpPr>
          <p:cNvPr id="277" name="Google Shape;277;p33"/>
          <p:cNvSpPr txBox="1"/>
          <p:nvPr/>
        </p:nvSpPr>
        <p:spPr>
          <a:xfrm>
            <a:off x="602675" y="1697350"/>
            <a:ext cx="9086400" cy="30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anonymized and publicly available datasets will be used.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evaluated for fairness across case types.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Explanations ensure transparency and accountability.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Jurisight supports decision-making, not legal advice.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Complies with responsible AI and GDPR data guidelines.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952500" y="2353121"/>
            <a:ext cx="5076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Chalkidis, I. et al. (2022). “LexGLUE: A Benchmark Dataset for Legal Language Understanding.” ACL 2022.</a:t>
            </a:r>
            <a:endParaRPr/>
          </a:p>
        </p:txBody>
      </p:sp>
      <p:sp>
        <p:nvSpPr>
          <p:cNvPr id="284" name="Google Shape;284;p34"/>
          <p:cNvSpPr txBox="1"/>
          <p:nvPr/>
        </p:nvSpPr>
        <p:spPr>
          <a:xfrm>
            <a:off x="914400" y="3254679"/>
            <a:ext cx="507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Zhong, H. et al. (2020). “How Does NLP Benefit Legal System.” COLING 2020.</a:t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914400" y="4160976"/>
            <a:ext cx="507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Wang, P. et al. (2023). “Explainable Verdict Prediction.” Information Processing &amp; Management, 60(2).</a:t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6543675" y="2353121"/>
            <a:ext cx="5076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Turan, F. &amp; Küçüksille, E. (2025) Interpretable Transformer Models for Legal Text Classification. Expert Systems with Applications.</a:t>
            </a:r>
            <a:endParaRPr/>
          </a:p>
        </p:txBody>
      </p:sp>
      <p:sp>
        <p:nvSpPr>
          <p:cNvPr id="287" name="Google Shape;287;p34"/>
          <p:cNvSpPr txBox="1"/>
          <p:nvPr/>
        </p:nvSpPr>
        <p:spPr>
          <a:xfrm>
            <a:off x="6543675" y="3549104"/>
            <a:ext cx="5076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Ramani, M. &amp; Venugopalan, S. (2025) Explainable Transformer Architectures for Legal Verdict Prediction. Journal of Intelligent &amp; Fuzzy Systems.</a:t>
            </a:r>
            <a:endParaRPr/>
          </a:p>
        </p:txBody>
      </p:sp>
      <p:sp>
        <p:nvSpPr>
          <p:cNvPr id="288" name="Google Shape;288;p34"/>
          <p:cNvSpPr txBox="1"/>
          <p:nvPr/>
        </p:nvSpPr>
        <p:spPr>
          <a:xfrm>
            <a:off x="914388" y="5067287"/>
            <a:ext cx="5076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Gong, Z., Lin, B. &amp; Zhang, J. (2024) Explainable Legal Judgment Prediction via Multi-View Attention Networks. IEEE Transactions on AI.</a:t>
            </a:r>
            <a:endParaRPr/>
          </a:p>
        </p:txBody>
      </p:sp>
      <p:pic>
        <p:nvPicPr>
          <p:cNvPr descr="image.png" id="289" name="Google Shape;28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932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375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817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675" y="242932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2675" y="362530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4261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 txBox="1"/>
          <p:nvPr/>
        </p:nvSpPr>
        <p:spPr>
          <a:xfrm>
            <a:off x="571500" y="116436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 txBox="1"/>
          <p:nvPr/>
        </p:nvSpPr>
        <p:spPr>
          <a:xfrm>
            <a:off x="295275" y="2844998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302" name="Google Shape;302;p35"/>
          <p:cNvSpPr txBox="1"/>
          <p:nvPr/>
        </p:nvSpPr>
        <p:spPr>
          <a:xfrm>
            <a:off x="571500" y="3978473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